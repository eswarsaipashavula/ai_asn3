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IBM Plex Mono Medium"/>
      <p:regular r:id="rId13"/>
      <p:bold r:id="rId14"/>
      <p:italic r:id="rId15"/>
      <p:boldItalic r:id="rId16"/>
    </p:embeddedFont>
    <p:embeddedFont>
      <p:font typeface="Inter"/>
      <p:regular r:id="rId17"/>
      <p:bold r:id="rId18"/>
      <p:italic r:id="rId19"/>
      <p:boldItalic r:id="rId20"/>
    </p:embeddedFont>
    <p:embeddedFont>
      <p:font typeface="Inter Medium"/>
      <p:regular r:id="rId21"/>
      <p:bold r:id="rId22"/>
      <p:italic r:id="rId23"/>
      <p:boldItalic r:id="rId24"/>
    </p:embeddedFont>
    <p:embeddedFont>
      <p:font typeface="IBM Plex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1E993F-218C-447D-AFA5-3DD32F7859FD}">
  <a:tblStyle styleId="{D51E993F-218C-447D-AFA5-3DD32F7859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22" Type="http://schemas.openxmlformats.org/officeDocument/2006/relationships/font" Target="fonts/InterMedium-bold.fntdata"/><Relationship Id="rId21" Type="http://schemas.openxmlformats.org/officeDocument/2006/relationships/font" Target="fonts/InterMedium-regular.fntdata"/><Relationship Id="rId24" Type="http://schemas.openxmlformats.org/officeDocument/2006/relationships/font" Target="fonts/InterMedium-boldItalic.fntdata"/><Relationship Id="rId23" Type="http://schemas.openxmlformats.org/officeDocument/2006/relationships/font" Target="fonts/Inter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BMPlexMono-bold.fntdata"/><Relationship Id="rId25" Type="http://schemas.openxmlformats.org/officeDocument/2006/relationships/font" Target="fonts/IBMPlexMono-regular.fntdata"/><Relationship Id="rId28" Type="http://schemas.openxmlformats.org/officeDocument/2006/relationships/font" Target="fonts/IBMPlexMono-boldItalic.fntdata"/><Relationship Id="rId27" Type="http://schemas.openxmlformats.org/officeDocument/2006/relationships/font" Target="fonts/IBMPlexMon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IBMPlexMonoMedium-regular.fntdata"/><Relationship Id="rId12" Type="http://schemas.openxmlformats.org/officeDocument/2006/relationships/slide" Target="slides/slide6.xml"/><Relationship Id="rId15" Type="http://schemas.openxmlformats.org/officeDocument/2006/relationships/font" Target="fonts/IBMPlexMonoMedium-italic.fntdata"/><Relationship Id="rId14" Type="http://schemas.openxmlformats.org/officeDocument/2006/relationships/font" Target="fonts/IBMPlexMonoMedium-bold.fntdata"/><Relationship Id="rId17" Type="http://schemas.openxmlformats.org/officeDocument/2006/relationships/font" Target="fonts/Inter-regular.fntdata"/><Relationship Id="rId16" Type="http://schemas.openxmlformats.org/officeDocument/2006/relationships/font" Target="fonts/IBMPlexMonoMedium-boldItalic.fntdata"/><Relationship Id="rId19" Type="http://schemas.openxmlformats.org/officeDocument/2006/relationships/font" Target="fonts/Inter-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ef956aea4a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2ef956aea4a_1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ef956aea4a_1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2ef956aea4a_1_1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1e52d40b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51e52d40b3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916fb701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4916fb7016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1e52d40b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51e52d40b3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0544f54d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40544f54d5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7"/>
            <a:ext cx="9144003" cy="319684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736250" y="3387050"/>
            <a:ext cx="5701500" cy="15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00550" y="25520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" name="Google Shape;14;p2"/>
          <p:cNvCxnSpPr/>
          <p:nvPr/>
        </p:nvCxnSpPr>
        <p:spPr>
          <a:xfrm>
            <a:off x="5997225" y="4714875"/>
            <a:ext cx="2865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168325" y="165032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8" name="Google Shape;18;p3"/>
          <p:cNvCxnSpPr/>
          <p:nvPr/>
        </p:nvCxnSpPr>
        <p:spPr>
          <a:xfrm>
            <a:off x="0" y="3577687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/>
          <p:nvPr/>
        </p:nvSpPr>
        <p:spPr>
          <a:xfrm>
            <a:off x="2340146" y="3530061"/>
            <a:ext cx="95250" cy="952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483867" y="3533255"/>
            <a:ext cx="95250" cy="952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627587" y="3533255"/>
            <a:ext cx="95250" cy="952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/>
          <p:nvPr>
            <p:ph idx="2" type="pic"/>
          </p:nvPr>
        </p:nvSpPr>
        <p:spPr>
          <a:xfrm>
            <a:off x="5692150" y="791800"/>
            <a:ext cx="1365900" cy="1365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" name="Google Shape;25;p4"/>
          <p:cNvSpPr/>
          <p:nvPr>
            <p:ph idx="3" type="pic"/>
          </p:nvPr>
        </p:nvSpPr>
        <p:spPr>
          <a:xfrm>
            <a:off x="7466413" y="791800"/>
            <a:ext cx="1365900" cy="1365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" name="Google Shape;26;p4"/>
          <p:cNvSpPr/>
          <p:nvPr>
            <p:ph idx="4" type="pic"/>
          </p:nvPr>
        </p:nvSpPr>
        <p:spPr>
          <a:xfrm>
            <a:off x="5692150" y="2821975"/>
            <a:ext cx="1365900" cy="1365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7" name="Google Shape;27;p4"/>
          <p:cNvSpPr/>
          <p:nvPr>
            <p:ph idx="5" type="pic"/>
          </p:nvPr>
        </p:nvSpPr>
        <p:spPr>
          <a:xfrm>
            <a:off x="7466425" y="2821975"/>
            <a:ext cx="1365900" cy="1365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5"/>
          <p:cNvSpPr/>
          <p:nvPr>
            <p:ph idx="3" type="pic"/>
          </p:nvPr>
        </p:nvSpPr>
        <p:spPr>
          <a:xfrm>
            <a:off x="271050" y="3431400"/>
            <a:ext cx="8601900" cy="1370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>
            <p:ph idx="2" type="pic"/>
          </p:nvPr>
        </p:nvSpPr>
        <p:spPr>
          <a:xfrm>
            <a:off x="373825" y="1694063"/>
            <a:ext cx="20709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6"/>
          <p:cNvSpPr/>
          <p:nvPr>
            <p:ph idx="3" type="pic"/>
          </p:nvPr>
        </p:nvSpPr>
        <p:spPr>
          <a:xfrm>
            <a:off x="2495533" y="1694063"/>
            <a:ext cx="20709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6"/>
          <p:cNvSpPr/>
          <p:nvPr>
            <p:ph idx="4" type="pic"/>
          </p:nvPr>
        </p:nvSpPr>
        <p:spPr>
          <a:xfrm>
            <a:off x="4617242" y="1694063"/>
            <a:ext cx="20709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6"/>
          <p:cNvSpPr/>
          <p:nvPr>
            <p:ph idx="5" type="pic"/>
          </p:nvPr>
        </p:nvSpPr>
        <p:spPr>
          <a:xfrm>
            <a:off x="6738950" y="1694063"/>
            <a:ext cx="20709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81000" y="528613"/>
            <a:ext cx="8382000" cy="4086274"/>
          </a:xfrm>
          <a:custGeom>
            <a:rect b="b" l="l" r="r" t="t"/>
            <a:pathLst>
              <a:path extrusionOk="0" h="8172547" w="16764000">
                <a:moveTo>
                  <a:pt x="0" y="0"/>
                </a:moveTo>
                <a:lnTo>
                  <a:pt x="16764000" y="0"/>
                </a:lnTo>
                <a:lnTo>
                  <a:pt x="16764000" y="8172547"/>
                </a:lnTo>
                <a:lnTo>
                  <a:pt x="0" y="8172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-6758" r="-6758" t="-21658"/>
            </a:stretch>
          </a:blipFill>
          <a:ln>
            <a:noFill/>
          </a:ln>
        </p:spPr>
      </p:sp>
      <p:sp>
        <p:nvSpPr>
          <p:cNvPr id="45" name="Google Shape;45;p7"/>
          <p:cNvSpPr txBox="1"/>
          <p:nvPr>
            <p:ph type="title"/>
          </p:nvPr>
        </p:nvSpPr>
        <p:spPr>
          <a:xfrm>
            <a:off x="1388100" y="5263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" name="Google Shape;50;p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7"/>
            <a:ext cx="9144003" cy="3196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 Medium"/>
              <a:buChar char="●"/>
              <a:defRPr sz="180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Mono Medium"/>
              <a:buChar char="○"/>
              <a:defRPr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rive.google.com/file/d/1HcDatWVjvqgXR95E_muMUICJ6I1waX8P/view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://drive.google.com/file/d/1wpH-zqisYltbpO38J4s3mdXH9CuP8Lfw/view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"/>
            <a:ext cx="9144003" cy="319684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1"/>
          <p:cNvSpPr txBox="1"/>
          <p:nvPr/>
        </p:nvSpPr>
        <p:spPr>
          <a:xfrm>
            <a:off x="331450" y="890850"/>
            <a:ext cx="8072100" cy="16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Assignment 3</a:t>
            </a:r>
            <a:endParaRPr sz="520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Game Playing</a:t>
            </a:r>
            <a:endParaRPr sz="490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" name="Google Shape;65;p11"/>
          <p:cNvSpPr txBox="1"/>
          <p:nvPr/>
        </p:nvSpPr>
        <p:spPr>
          <a:xfrm>
            <a:off x="381000" y="3636725"/>
            <a:ext cx="409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rPr>
              <a:t>CS24M109 - Pashaula Eswar Sai</a:t>
            </a:r>
            <a:endParaRPr sz="1800">
              <a:solidFill>
                <a:srgbClr val="191919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rPr>
              <a:t>CS24M123 - Gooty Bharadwaj</a:t>
            </a:r>
            <a:endParaRPr sz="1800">
              <a:solidFill>
                <a:srgbClr val="191919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/>
        </p:nvSpPr>
        <p:spPr>
          <a:xfrm>
            <a:off x="381000" y="212875"/>
            <a:ext cx="8471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Minimax and AlphaBeta Pruning on Chess</a:t>
            </a:r>
            <a:endParaRPr sz="700"/>
          </a:p>
        </p:txBody>
      </p:sp>
      <p:cxnSp>
        <p:nvCxnSpPr>
          <p:cNvPr id="71" name="Google Shape;71;p12"/>
          <p:cNvCxnSpPr/>
          <p:nvPr/>
        </p:nvCxnSpPr>
        <p:spPr>
          <a:xfrm flipH="1" rot="10800000">
            <a:off x="200750" y="866175"/>
            <a:ext cx="8681100" cy="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2" title="standard_chess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750" y="1274000"/>
            <a:ext cx="4274500" cy="320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2" title="chess_game.mp4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1900" y="1273987"/>
            <a:ext cx="4274500" cy="320589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2"/>
          <p:cNvSpPr txBox="1"/>
          <p:nvPr/>
        </p:nvSpPr>
        <p:spPr>
          <a:xfrm>
            <a:off x="1226550" y="4479875"/>
            <a:ext cx="29802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rPr>
              <a:t>Mini-Max</a:t>
            </a:r>
            <a:endParaRPr sz="1800">
              <a:solidFill>
                <a:schemeClr val="dk2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5" name="Google Shape;75;p12"/>
          <p:cNvSpPr txBox="1"/>
          <p:nvPr/>
        </p:nvSpPr>
        <p:spPr>
          <a:xfrm>
            <a:off x="5762450" y="4479875"/>
            <a:ext cx="31194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rPr>
              <a:t>Alpha-Beta</a:t>
            </a:r>
            <a:endParaRPr sz="1800">
              <a:solidFill>
                <a:schemeClr val="dk2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/>
        </p:nvSpPr>
        <p:spPr>
          <a:xfrm>
            <a:off x="381000" y="113775"/>
            <a:ext cx="656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Evaluation Function</a:t>
            </a:r>
            <a:endParaRPr sz="700"/>
          </a:p>
        </p:txBody>
      </p:sp>
      <p:cxnSp>
        <p:nvCxnSpPr>
          <p:cNvPr id="81" name="Google Shape;81;p13"/>
          <p:cNvCxnSpPr/>
          <p:nvPr/>
        </p:nvCxnSpPr>
        <p:spPr>
          <a:xfrm flipH="1" rot="10800000">
            <a:off x="237875" y="606375"/>
            <a:ext cx="6627300" cy="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3"/>
          <p:cNvSpPr txBox="1"/>
          <p:nvPr/>
        </p:nvSpPr>
        <p:spPr>
          <a:xfrm>
            <a:off x="381000" y="621675"/>
            <a:ext cx="8585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evaluation function is a heuristic scoring system that assigns a numerical value to a given chess board position. The evaluation is from White’s perspective: a positive score favors White, a negative one favors Black.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3" name="Google Shape;83;p13"/>
          <p:cNvGraphicFramePr/>
          <p:nvPr/>
        </p:nvGraphicFramePr>
        <p:xfrm>
          <a:off x="298450" y="1489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{D51E993F-218C-447D-AFA5-3DD32F7859FD}</a:tableStyleId>
              </a:tblPr>
              <a:tblGrid>
                <a:gridCol w="4334125"/>
                <a:gridCol w="4334125"/>
              </a:tblGrid>
              <a:tr h="51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Key Components of Evaluation Function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Description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10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Checkmate &amp; Game Over Handling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- Returns ±∞ if the board is in checkmate (positive for White win, negative for Black win).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 Returns 0 if the game is drawn or otherwise over.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Material 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Each Piece has a base value. White pieces add to the score and Black’s subtract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Piece-Square Tables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Each piece type uses a 64-square positional table to reflect optimal placement. Scaled by 0.1 to balance with material score.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Mobility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White get +0.01 per legal move; black gets -0.01.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/>
        </p:nvSpPr>
        <p:spPr>
          <a:xfrm>
            <a:off x="381000" y="212875"/>
            <a:ext cx="468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Plots for MiniMax</a:t>
            </a:r>
            <a:endParaRPr sz="700"/>
          </a:p>
        </p:txBody>
      </p:sp>
      <p:cxnSp>
        <p:nvCxnSpPr>
          <p:cNvPr id="89" name="Google Shape;89;p14"/>
          <p:cNvCxnSpPr/>
          <p:nvPr/>
        </p:nvCxnSpPr>
        <p:spPr>
          <a:xfrm flipH="1" rot="10800000">
            <a:off x="200750" y="747550"/>
            <a:ext cx="6627300" cy="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" name="Google Shape;9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15250"/>
            <a:ext cx="8839198" cy="3642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/>
        </p:nvSpPr>
        <p:spPr>
          <a:xfrm>
            <a:off x="381000" y="212875"/>
            <a:ext cx="656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Plots for AlphaBeta Pruning</a:t>
            </a:r>
            <a:endParaRPr sz="700"/>
          </a:p>
        </p:txBody>
      </p:sp>
      <p:cxnSp>
        <p:nvCxnSpPr>
          <p:cNvPr id="96" name="Google Shape;96;p15"/>
          <p:cNvCxnSpPr/>
          <p:nvPr/>
        </p:nvCxnSpPr>
        <p:spPr>
          <a:xfrm flipH="1" rot="10800000">
            <a:off x="200750" y="747550"/>
            <a:ext cx="6627300" cy="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7" name="Google Shape;9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15250"/>
            <a:ext cx="8839198" cy="3642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381000" y="212875"/>
            <a:ext cx="697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Results Analysis</a:t>
            </a:r>
            <a:endParaRPr sz="32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3" name="Google Shape;103;p16"/>
          <p:cNvCxnSpPr/>
          <p:nvPr/>
        </p:nvCxnSpPr>
        <p:spPr>
          <a:xfrm>
            <a:off x="200750" y="878175"/>
            <a:ext cx="744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6"/>
          <p:cNvSpPr txBox="1"/>
          <p:nvPr/>
        </p:nvSpPr>
        <p:spPr>
          <a:xfrm>
            <a:off x="329425" y="919425"/>
            <a:ext cx="8629200" cy="41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Key Observations: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Minimax evaluates all possible nodes → leads to exponential growth in time and nodes.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Alpha-Beta Pruning skips irrelevant branches, drastically reducing node evaluations and runtime at deeper levels.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Why Alpha-Beta Outperforms: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Pruning: Alpha-Beta reduces effective branching factor from O(b^d) to O(b^(d/2)) in best cases.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Lower Nodes: At depth 5, Alpha-Beta evaluates ~10× fewer nodes than Minimax.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Faster at Deeper Levels: Despite higher overhead at shallow depths, pruning benefits dominate from depth 3 onward.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Conclusion: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Alpha-Beta Pruning is significantly more efficient for deeper searches in complex games like chess.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Move ordering can further improve pruning effectiveness.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